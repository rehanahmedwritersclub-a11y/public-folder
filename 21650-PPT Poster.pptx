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21374100" cy="15113000"/>
  <p:notesSz cx="6858000" cy="9144000"/>
  <p:embeddedFontLst>
    <p:embeddedFont>
      <p:font typeface="Canva Sans" panose="020B0604020202020204" charset="0"/>
      <p:regular r:id="rId3"/>
    </p:embeddedFont>
    <p:embeddedFont>
      <p:font typeface="Garet" panose="020B0604020202020204" charset="0"/>
      <p:regular r:id="rId4"/>
    </p:embeddedFont>
    <p:embeddedFont>
      <p:font typeface="Garet Bold" panose="020B0604020202020204" charset="0"/>
      <p:regular r:id="rId5"/>
    </p:embeddedFont>
    <p:embeddedFont>
      <p:font typeface="Garet ExtraBold" panose="020B0604020202020204" charset="0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401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5" Type="http://schemas.openxmlformats.org/officeDocument/2006/relationships/font" Target="fonts/font3.fntdata"/><Relationship Id="rId10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hyperlink" Target="https://www.dm.gov.ae/2022/11/07/dubai-municipality-to-showcase-most-innovative-projects-at-gitex-global-2022/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0424" y="-60305"/>
            <a:ext cx="20922312" cy="1129073"/>
            <a:chOff x="0" y="0"/>
            <a:chExt cx="3749042" cy="2023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49042" cy="202317"/>
            </a:xfrm>
            <a:custGeom>
              <a:avLst/>
              <a:gdLst/>
              <a:ahLst/>
              <a:cxnLst/>
              <a:rect l="l" t="t" r="r" b="b"/>
              <a:pathLst>
                <a:path w="3749042" h="202317">
                  <a:moveTo>
                    <a:pt x="12951" y="0"/>
                  </a:moveTo>
                  <a:lnTo>
                    <a:pt x="3736091" y="0"/>
                  </a:lnTo>
                  <a:cubicBezTo>
                    <a:pt x="3743244" y="0"/>
                    <a:pt x="3749042" y="5798"/>
                    <a:pt x="3749042" y="12951"/>
                  </a:cubicBezTo>
                  <a:lnTo>
                    <a:pt x="3749042" y="189366"/>
                  </a:lnTo>
                  <a:cubicBezTo>
                    <a:pt x="3749042" y="192801"/>
                    <a:pt x="3747677" y="196095"/>
                    <a:pt x="3745249" y="198524"/>
                  </a:cubicBezTo>
                  <a:cubicBezTo>
                    <a:pt x="3742820" y="200953"/>
                    <a:pt x="3739526" y="202317"/>
                    <a:pt x="3736091" y="202317"/>
                  </a:cubicBezTo>
                  <a:lnTo>
                    <a:pt x="12951" y="202317"/>
                  </a:lnTo>
                  <a:cubicBezTo>
                    <a:pt x="9516" y="202317"/>
                    <a:pt x="6222" y="200953"/>
                    <a:pt x="3793" y="198524"/>
                  </a:cubicBezTo>
                  <a:cubicBezTo>
                    <a:pt x="1364" y="196095"/>
                    <a:pt x="0" y="192801"/>
                    <a:pt x="0" y="189366"/>
                  </a:cubicBezTo>
                  <a:lnTo>
                    <a:pt x="0" y="12951"/>
                  </a:lnTo>
                  <a:cubicBezTo>
                    <a:pt x="0" y="9516"/>
                    <a:pt x="1364" y="6222"/>
                    <a:pt x="3793" y="3793"/>
                  </a:cubicBezTo>
                  <a:cubicBezTo>
                    <a:pt x="6222" y="1364"/>
                    <a:pt x="9516" y="0"/>
                    <a:pt x="12951" y="0"/>
                  </a:cubicBezTo>
                  <a:close/>
                </a:path>
              </a:pathLst>
            </a:custGeom>
            <a:solidFill>
              <a:srgbClr val="545454"/>
            </a:solidFill>
            <a:ln w="38100" cap="rnd">
              <a:solidFill>
                <a:srgbClr val="3B393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749042" cy="240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69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5053" y="912301"/>
            <a:ext cx="21384000" cy="14051232"/>
            <a:chOff x="0" y="0"/>
            <a:chExt cx="3831771" cy="25178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831772" cy="2517822"/>
            </a:xfrm>
            <a:custGeom>
              <a:avLst/>
              <a:gdLst/>
              <a:ahLst/>
              <a:cxnLst/>
              <a:rect l="l" t="t" r="r" b="b"/>
              <a:pathLst>
                <a:path w="3831772" h="2517822">
                  <a:moveTo>
                    <a:pt x="12671" y="0"/>
                  </a:moveTo>
                  <a:lnTo>
                    <a:pt x="3819100" y="0"/>
                  </a:lnTo>
                  <a:cubicBezTo>
                    <a:pt x="3826098" y="0"/>
                    <a:pt x="3831772" y="5673"/>
                    <a:pt x="3831772" y="12671"/>
                  </a:cubicBezTo>
                  <a:lnTo>
                    <a:pt x="3831772" y="2505151"/>
                  </a:lnTo>
                  <a:cubicBezTo>
                    <a:pt x="3831772" y="2508511"/>
                    <a:pt x="3830436" y="2511734"/>
                    <a:pt x="3828060" y="2514111"/>
                  </a:cubicBezTo>
                  <a:cubicBezTo>
                    <a:pt x="3825684" y="2516487"/>
                    <a:pt x="3822461" y="2517822"/>
                    <a:pt x="3819100" y="2517822"/>
                  </a:cubicBezTo>
                  <a:lnTo>
                    <a:pt x="12671" y="2517822"/>
                  </a:lnTo>
                  <a:cubicBezTo>
                    <a:pt x="9311" y="2517822"/>
                    <a:pt x="6088" y="2516487"/>
                    <a:pt x="3711" y="2514111"/>
                  </a:cubicBezTo>
                  <a:cubicBezTo>
                    <a:pt x="1335" y="2511734"/>
                    <a:pt x="0" y="2508511"/>
                    <a:pt x="0" y="2505151"/>
                  </a:cubicBezTo>
                  <a:lnTo>
                    <a:pt x="0" y="12671"/>
                  </a:lnTo>
                  <a:cubicBezTo>
                    <a:pt x="0" y="9311"/>
                    <a:pt x="1335" y="6088"/>
                    <a:pt x="3711" y="3711"/>
                  </a:cubicBezTo>
                  <a:cubicBezTo>
                    <a:pt x="6088" y="1335"/>
                    <a:pt x="9311" y="0"/>
                    <a:pt x="1267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3B393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831771" cy="25559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69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83742" y="6378792"/>
            <a:ext cx="4635540" cy="3468599"/>
            <a:chOff x="0" y="0"/>
            <a:chExt cx="830636" cy="62153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30636" cy="621534"/>
            </a:xfrm>
            <a:custGeom>
              <a:avLst/>
              <a:gdLst/>
              <a:ahLst/>
              <a:cxnLst/>
              <a:rect l="l" t="t" r="r" b="b"/>
              <a:pathLst>
                <a:path w="830636" h="621534">
                  <a:moveTo>
                    <a:pt x="50104" y="0"/>
                  </a:moveTo>
                  <a:lnTo>
                    <a:pt x="780533" y="0"/>
                  </a:lnTo>
                  <a:cubicBezTo>
                    <a:pt x="808204" y="0"/>
                    <a:pt x="830636" y="22432"/>
                    <a:pt x="830636" y="50104"/>
                  </a:cubicBezTo>
                  <a:lnTo>
                    <a:pt x="830636" y="571430"/>
                  </a:lnTo>
                  <a:cubicBezTo>
                    <a:pt x="830636" y="584718"/>
                    <a:pt x="825358" y="597463"/>
                    <a:pt x="815961" y="606859"/>
                  </a:cubicBezTo>
                  <a:cubicBezTo>
                    <a:pt x="806565" y="616255"/>
                    <a:pt x="793821" y="621534"/>
                    <a:pt x="780533" y="621534"/>
                  </a:cubicBezTo>
                  <a:lnTo>
                    <a:pt x="50104" y="621534"/>
                  </a:lnTo>
                  <a:cubicBezTo>
                    <a:pt x="36815" y="621534"/>
                    <a:pt x="24071" y="616255"/>
                    <a:pt x="14675" y="606859"/>
                  </a:cubicBezTo>
                  <a:cubicBezTo>
                    <a:pt x="5279" y="597463"/>
                    <a:pt x="0" y="584718"/>
                    <a:pt x="0" y="571430"/>
                  </a:cubicBezTo>
                  <a:lnTo>
                    <a:pt x="0" y="50104"/>
                  </a:lnTo>
                  <a:cubicBezTo>
                    <a:pt x="0" y="22432"/>
                    <a:pt x="22432" y="0"/>
                    <a:pt x="50104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3B393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30636" cy="6596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69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1068768"/>
            <a:ext cx="8267225" cy="5893670"/>
            <a:chOff x="0" y="0"/>
            <a:chExt cx="1481393" cy="105607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81393" cy="1056079"/>
            </a:xfrm>
            <a:custGeom>
              <a:avLst/>
              <a:gdLst/>
              <a:ahLst/>
              <a:cxnLst/>
              <a:rect l="l" t="t" r="r" b="b"/>
              <a:pathLst>
                <a:path w="1481393" h="1056079">
                  <a:moveTo>
                    <a:pt x="28094" y="0"/>
                  </a:moveTo>
                  <a:lnTo>
                    <a:pt x="1453300" y="0"/>
                  </a:lnTo>
                  <a:cubicBezTo>
                    <a:pt x="1468815" y="0"/>
                    <a:pt x="1481393" y="12578"/>
                    <a:pt x="1481393" y="28094"/>
                  </a:cubicBezTo>
                  <a:lnTo>
                    <a:pt x="1481393" y="1027985"/>
                  </a:lnTo>
                  <a:cubicBezTo>
                    <a:pt x="1481393" y="1043501"/>
                    <a:pt x="1468815" y="1056079"/>
                    <a:pt x="1453300" y="1056079"/>
                  </a:cubicBezTo>
                  <a:lnTo>
                    <a:pt x="28094" y="1056079"/>
                  </a:lnTo>
                  <a:cubicBezTo>
                    <a:pt x="20643" y="1056079"/>
                    <a:pt x="13497" y="1053119"/>
                    <a:pt x="8228" y="1047851"/>
                  </a:cubicBezTo>
                  <a:cubicBezTo>
                    <a:pt x="2960" y="1042582"/>
                    <a:pt x="0" y="1035436"/>
                    <a:pt x="0" y="1027985"/>
                  </a:cubicBezTo>
                  <a:lnTo>
                    <a:pt x="0" y="28094"/>
                  </a:lnTo>
                  <a:cubicBezTo>
                    <a:pt x="0" y="20643"/>
                    <a:pt x="2960" y="13497"/>
                    <a:pt x="8228" y="8228"/>
                  </a:cubicBezTo>
                  <a:cubicBezTo>
                    <a:pt x="13497" y="2960"/>
                    <a:pt x="20643" y="0"/>
                    <a:pt x="28094" y="0"/>
                  </a:cubicBezTo>
                  <a:close/>
                </a:path>
              </a:pathLst>
            </a:custGeom>
            <a:solidFill>
              <a:srgbClr val="004AAD"/>
            </a:solidFill>
            <a:ln w="28575" cap="rnd">
              <a:solidFill>
                <a:srgbClr val="3B393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481393" cy="10941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69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283742" y="1068768"/>
            <a:ext cx="7074864" cy="5176674"/>
            <a:chOff x="0" y="0"/>
            <a:chExt cx="1267736" cy="92760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67736" cy="927602"/>
            </a:xfrm>
            <a:custGeom>
              <a:avLst/>
              <a:gdLst/>
              <a:ahLst/>
              <a:cxnLst/>
              <a:rect l="l" t="t" r="r" b="b"/>
              <a:pathLst>
                <a:path w="1267736" h="927602">
                  <a:moveTo>
                    <a:pt x="32829" y="0"/>
                  </a:moveTo>
                  <a:lnTo>
                    <a:pt x="1234907" y="0"/>
                  </a:lnTo>
                  <a:cubicBezTo>
                    <a:pt x="1253038" y="0"/>
                    <a:pt x="1267736" y="14698"/>
                    <a:pt x="1267736" y="32829"/>
                  </a:cubicBezTo>
                  <a:lnTo>
                    <a:pt x="1267736" y="894773"/>
                  </a:lnTo>
                  <a:cubicBezTo>
                    <a:pt x="1267736" y="912904"/>
                    <a:pt x="1253038" y="927602"/>
                    <a:pt x="1234907" y="927602"/>
                  </a:cubicBezTo>
                  <a:lnTo>
                    <a:pt x="32829" y="927602"/>
                  </a:lnTo>
                  <a:cubicBezTo>
                    <a:pt x="14698" y="927602"/>
                    <a:pt x="0" y="912904"/>
                    <a:pt x="0" y="894773"/>
                  </a:cubicBezTo>
                  <a:lnTo>
                    <a:pt x="0" y="32829"/>
                  </a:lnTo>
                  <a:cubicBezTo>
                    <a:pt x="0" y="14698"/>
                    <a:pt x="14698" y="0"/>
                    <a:pt x="32829" y="0"/>
                  </a:cubicBezTo>
                  <a:close/>
                </a:path>
              </a:pathLst>
            </a:custGeom>
            <a:solidFill>
              <a:srgbClr val="7A004B"/>
            </a:solidFill>
            <a:ln w="28575" cap="rnd">
              <a:solidFill>
                <a:srgbClr val="3B393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267736" cy="9657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69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0" y="10161716"/>
            <a:ext cx="8116548" cy="4920695"/>
            <a:chOff x="0" y="0"/>
            <a:chExt cx="1454394" cy="88173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54394" cy="881733"/>
            </a:xfrm>
            <a:custGeom>
              <a:avLst/>
              <a:gdLst/>
              <a:ahLst/>
              <a:cxnLst/>
              <a:rect l="l" t="t" r="r" b="b"/>
              <a:pathLst>
                <a:path w="1454394" h="881733">
                  <a:moveTo>
                    <a:pt x="28615" y="0"/>
                  </a:moveTo>
                  <a:lnTo>
                    <a:pt x="1425778" y="0"/>
                  </a:lnTo>
                  <a:cubicBezTo>
                    <a:pt x="1433368" y="0"/>
                    <a:pt x="1440646" y="3015"/>
                    <a:pt x="1446013" y="8381"/>
                  </a:cubicBezTo>
                  <a:cubicBezTo>
                    <a:pt x="1451379" y="13748"/>
                    <a:pt x="1454394" y="21026"/>
                    <a:pt x="1454394" y="28615"/>
                  </a:cubicBezTo>
                  <a:lnTo>
                    <a:pt x="1454394" y="853118"/>
                  </a:lnTo>
                  <a:cubicBezTo>
                    <a:pt x="1454394" y="860707"/>
                    <a:pt x="1451379" y="867985"/>
                    <a:pt x="1446013" y="873352"/>
                  </a:cubicBezTo>
                  <a:cubicBezTo>
                    <a:pt x="1440646" y="878718"/>
                    <a:pt x="1433368" y="881733"/>
                    <a:pt x="1425778" y="881733"/>
                  </a:cubicBezTo>
                  <a:lnTo>
                    <a:pt x="28615" y="881733"/>
                  </a:lnTo>
                  <a:cubicBezTo>
                    <a:pt x="21026" y="881733"/>
                    <a:pt x="13748" y="878718"/>
                    <a:pt x="8381" y="873352"/>
                  </a:cubicBezTo>
                  <a:cubicBezTo>
                    <a:pt x="3015" y="867985"/>
                    <a:pt x="0" y="860707"/>
                    <a:pt x="0" y="853118"/>
                  </a:cubicBezTo>
                  <a:lnTo>
                    <a:pt x="0" y="28615"/>
                  </a:lnTo>
                  <a:cubicBezTo>
                    <a:pt x="0" y="21026"/>
                    <a:pt x="3015" y="13748"/>
                    <a:pt x="8381" y="8381"/>
                  </a:cubicBezTo>
                  <a:cubicBezTo>
                    <a:pt x="13748" y="3015"/>
                    <a:pt x="21026" y="0"/>
                    <a:pt x="28615" y="0"/>
                  </a:cubicBezTo>
                  <a:close/>
                </a:path>
              </a:pathLst>
            </a:custGeom>
            <a:solidFill>
              <a:srgbClr val="0097B2"/>
            </a:solidFill>
            <a:ln w="28575" cap="rnd">
              <a:solidFill>
                <a:srgbClr val="3B393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454394" cy="9198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69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353150" y="10447730"/>
            <a:ext cx="7990771" cy="4634681"/>
            <a:chOff x="0" y="0"/>
            <a:chExt cx="1431856" cy="83048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31856" cy="830483"/>
            </a:xfrm>
            <a:custGeom>
              <a:avLst/>
              <a:gdLst/>
              <a:ahLst/>
              <a:cxnLst/>
              <a:rect l="l" t="t" r="r" b="b"/>
              <a:pathLst>
                <a:path w="1431856" h="830483">
                  <a:moveTo>
                    <a:pt x="29066" y="0"/>
                  </a:moveTo>
                  <a:lnTo>
                    <a:pt x="1402790" y="0"/>
                  </a:lnTo>
                  <a:cubicBezTo>
                    <a:pt x="1418843" y="0"/>
                    <a:pt x="1431856" y="13013"/>
                    <a:pt x="1431856" y="29066"/>
                  </a:cubicBezTo>
                  <a:lnTo>
                    <a:pt x="1431856" y="801417"/>
                  </a:lnTo>
                  <a:cubicBezTo>
                    <a:pt x="1431856" y="817469"/>
                    <a:pt x="1418843" y="830483"/>
                    <a:pt x="1402790" y="830483"/>
                  </a:cubicBezTo>
                  <a:lnTo>
                    <a:pt x="29066" y="830483"/>
                  </a:lnTo>
                  <a:cubicBezTo>
                    <a:pt x="13013" y="830483"/>
                    <a:pt x="0" y="817469"/>
                    <a:pt x="0" y="801417"/>
                  </a:cubicBezTo>
                  <a:lnTo>
                    <a:pt x="0" y="29066"/>
                  </a:lnTo>
                  <a:cubicBezTo>
                    <a:pt x="0" y="13013"/>
                    <a:pt x="13013" y="0"/>
                    <a:pt x="29066" y="0"/>
                  </a:cubicBezTo>
                  <a:close/>
                </a:path>
              </a:pathLst>
            </a:custGeom>
            <a:solidFill>
              <a:srgbClr val="2E6417"/>
            </a:solidFill>
            <a:ln w="28575" cap="rnd">
              <a:solidFill>
                <a:srgbClr val="3B393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431856" cy="868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69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8143777" y="12118346"/>
            <a:ext cx="5185325" cy="2949838"/>
          </a:xfrm>
          <a:custGeom>
            <a:avLst/>
            <a:gdLst/>
            <a:ahLst/>
            <a:cxnLst/>
            <a:rect l="l" t="t" r="r" b="b"/>
            <a:pathLst>
              <a:path w="5185325" h="2949838">
                <a:moveTo>
                  <a:pt x="0" y="0"/>
                </a:moveTo>
                <a:lnTo>
                  <a:pt x="5185325" y="0"/>
                </a:lnTo>
                <a:lnTo>
                  <a:pt x="5185325" y="2949838"/>
                </a:lnTo>
                <a:lnTo>
                  <a:pt x="0" y="29498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753" b="-50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15123362" y="7625510"/>
            <a:ext cx="6160417" cy="2755544"/>
          </a:xfrm>
          <a:custGeom>
            <a:avLst/>
            <a:gdLst/>
            <a:ahLst/>
            <a:cxnLst/>
            <a:rect l="l" t="t" r="r" b="b"/>
            <a:pathLst>
              <a:path w="6160417" h="2755544">
                <a:moveTo>
                  <a:pt x="0" y="0"/>
                </a:moveTo>
                <a:lnTo>
                  <a:pt x="6160417" y="0"/>
                </a:lnTo>
                <a:lnTo>
                  <a:pt x="6160417" y="2755545"/>
                </a:lnTo>
                <a:lnTo>
                  <a:pt x="0" y="27555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262" b="-248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5" name="Group 25"/>
          <p:cNvGrpSpPr/>
          <p:nvPr/>
        </p:nvGrpSpPr>
        <p:grpSpPr>
          <a:xfrm>
            <a:off x="55053" y="7169638"/>
            <a:ext cx="8087133" cy="2801578"/>
            <a:chOff x="0" y="0"/>
            <a:chExt cx="1449123" cy="50201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449123" cy="502011"/>
            </a:xfrm>
            <a:custGeom>
              <a:avLst/>
              <a:gdLst/>
              <a:ahLst/>
              <a:cxnLst/>
              <a:rect l="l" t="t" r="r" b="b"/>
              <a:pathLst>
                <a:path w="1449123" h="502011">
                  <a:moveTo>
                    <a:pt x="28719" y="0"/>
                  </a:moveTo>
                  <a:lnTo>
                    <a:pt x="1420404" y="0"/>
                  </a:lnTo>
                  <a:cubicBezTo>
                    <a:pt x="1436265" y="0"/>
                    <a:pt x="1449123" y="12858"/>
                    <a:pt x="1449123" y="28719"/>
                  </a:cubicBezTo>
                  <a:lnTo>
                    <a:pt x="1449123" y="473292"/>
                  </a:lnTo>
                  <a:cubicBezTo>
                    <a:pt x="1449123" y="489153"/>
                    <a:pt x="1436265" y="502011"/>
                    <a:pt x="1420404" y="502011"/>
                  </a:cubicBezTo>
                  <a:lnTo>
                    <a:pt x="28719" y="502011"/>
                  </a:lnTo>
                  <a:cubicBezTo>
                    <a:pt x="21103" y="502011"/>
                    <a:pt x="13798" y="498985"/>
                    <a:pt x="8412" y="493600"/>
                  </a:cubicBezTo>
                  <a:cubicBezTo>
                    <a:pt x="3026" y="488214"/>
                    <a:pt x="0" y="480909"/>
                    <a:pt x="0" y="473292"/>
                  </a:cubicBezTo>
                  <a:lnTo>
                    <a:pt x="0" y="28719"/>
                  </a:lnTo>
                  <a:cubicBezTo>
                    <a:pt x="0" y="12858"/>
                    <a:pt x="12858" y="0"/>
                    <a:pt x="28719" y="0"/>
                  </a:cubicBezTo>
                  <a:close/>
                </a:path>
              </a:pathLst>
            </a:custGeom>
            <a:solidFill>
              <a:srgbClr val="CC7A00"/>
            </a:solidFill>
            <a:ln w="28575" cap="rnd">
              <a:solidFill>
                <a:srgbClr val="3B393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1449123" cy="5401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69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183223" y="10020912"/>
            <a:ext cx="5145879" cy="1950582"/>
            <a:chOff x="0" y="0"/>
            <a:chExt cx="922083" cy="34952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22083" cy="349522"/>
            </a:xfrm>
            <a:custGeom>
              <a:avLst/>
              <a:gdLst/>
              <a:ahLst/>
              <a:cxnLst/>
              <a:rect l="l" t="t" r="r" b="b"/>
              <a:pathLst>
                <a:path w="922083" h="349522">
                  <a:moveTo>
                    <a:pt x="45135" y="0"/>
                  </a:moveTo>
                  <a:lnTo>
                    <a:pt x="876949" y="0"/>
                  </a:lnTo>
                  <a:cubicBezTo>
                    <a:pt x="888919" y="0"/>
                    <a:pt x="900399" y="4755"/>
                    <a:pt x="908864" y="13220"/>
                  </a:cubicBezTo>
                  <a:cubicBezTo>
                    <a:pt x="917328" y="21684"/>
                    <a:pt x="922083" y="33164"/>
                    <a:pt x="922083" y="45135"/>
                  </a:cubicBezTo>
                  <a:lnTo>
                    <a:pt x="922083" y="304388"/>
                  </a:lnTo>
                  <a:cubicBezTo>
                    <a:pt x="922083" y="329315"/>
                    <a:pt x="901876" y="349522"/>
                    <a:pt x="876949" y="349522"/>
                  </a:cubicBezTo>
                  <a:lnTo>
                    <a:pt x="45135" y="349522"/>
                  </a:lnTo>
                  <a:cubicBezTo>
                    <a:pt x="20207" y="349522"/>
                    <a:pt x="0" y="329315"/>
                    <a:pt x="0" y="304388"/>
                  </a:cubicBezTo>
                  <a:lnTo>
                    <a:pt x="0" y="45135"/>
                  </a:lnTo>
                  <a:cubicBezTo>
                    <a:pt x="0" y="20207"/>
                    <a:pt x="20207" y="0"/>
                    <a:pt x="45135" y="0"/>
                  </a:cubicBezTo>
                  <a:close/>
                </a:path>
              </a:pathLst>
            </a:custGeom>
            <a:solidFill>
              <a:srgbClr val="545454"/>
            </a:solidFill>
            <a:ln w="28575" cap="rnd">
              <a:solidFill>
                <a:srgbClr val="3B393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922083" cy="3876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69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5358606" y="992568"/>
            <a:ext cx="5871015" cy="6415500"/>
            <a:chOff x="0" y="0"/>
            <a:chExt cx="1052020" cy="114958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52020" cy="1149585"/>
            </a:xfrm>
            <a:custGeom>
              <a:avLst/>
              <a:gdLst/>
              <a:ahLst/>
              <a:cxnLst/>
              <a:rect l="l" t="t" r="r" b="b"/>
              <a:pathLst>
                <a:path w="1052020" h="1149585">
                  <a:moveTo>
                    <a:pt x="39560" y="0"/>
                  </a:moveTo>
                  <a:lnTo>
                    <a:pt x="1012460" y="0"/>
                  </a:lnTo>
                  <a:cubicBezTo>
                    <a:pt x="1034308" y="0"/>
                    <a:pt x="1052020" y="17712"/>
                    <a:pt x="1052020" y="39560"/>
                  </a:cubicBezTo>
                  <a:lnTo>
                    <a:pt x="1052020" y="1110025"/>
                  </a:lnTo>
                  <a:cubicBezTo>
                    <a:pt x="1052020" y="1131874"/>
                    <a:pt x="1034308" y="1149585"/>
                    <a:pt x="1012460" y="1149585"/>
                  </a:cubicBezTo>
                  <a:lnTo>
                    <a:pt x="39560" y="1149585"/>
                  </a:lnTo>
                  <a:cubicBezTo>
                    <a:pt x="17712" y="1149585"/>
                    <a:pt x="0" y="1131874"/>
                    <a:pt x="0" y="1110025"/>
                  </a:cubicBezTo>
                  <a:lnTo>
                    <a:pt x="0" y="39560"/>
                  </a:lnTo>
                  <a:cubicBezTo>
                    <a:pt x="0" y="17712"/>
                    <a:pt x="17712" y="0"/>
                    <a:pt x="39560" y="0"/>
                  </a:cubicBezTo>
                  <a:close/>
                </a:path>
              </a:pathLst>
            </a:custGeom>
            <a:solidFill>
              <a:srgbClr val="401268"/>
            </a:solidFill>
            <a:ln w="28575" cap="rnd">
              <a:solidFill>
                <a:srgbClr val="3B393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052020" cy="1187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69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4" name="Freeform 34"/>
          <p:cNvSpPr/>
          <p:nvPr/>
        </p:nvSpPr>
        <p:spPr>
          <a:xfrm>
            <a:off x="8330010" y="6427221"/>
            <a:ext cx="4319752" cy="3251595"/>
          </a:xfrm>
          <a:custGeom>
            <a:avLst/>
            <a:gdLst/>
            <a:ahLst/>
            <a:cxnLst/>
            <a:rect l="l" t="t" r="r" b="b"/>
            <a:pathLst>
              <a:path w="4319752" h="3251595">
                <a:moveTo>
                  <a:pt x="0" y="0"/>
                </a:moveTo>
                <a:lnTo>
                  <a:pt x="4319751" y="0"/>
                </a:lnTo>
                <a:lnTo>
                  <a:pt x="4319751" y="3251595"/>
                </a:lnTo>
                <a:lnTo>
                  <a:pt x="0" y="32515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>
            <a:off x="13185982" y="6378792"/>
            <a:ext cx="1470410" cy="2215686"/>
          </a:xfrm>
          <a:custGeom>
            <a:avLst/>
            <a:gdLst/>
            <a:ahLst/>
            <a:cxnLst/>
            <a:rect l="l" t="t" r="r" b="b"/>
            <a:pathLst>
              <a:path w="1470410" h="2215686">
                <a:moveTo>
                  <a:pt x="0" y="0"/>
                </a:moveTo>
                <a:lnTo>
                  <a:pt x="1470410" y="0"/>
                </a:lnTo>
                <a:lnTo>
                  <a:pt x="1470410" y="2215687"/>
                </a:lnTo>
                <a:lnTo>
                  <a:pt x="0" y="22156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/>
          <p:cNvSpPr/>
          <p:nvPr/>
        </p:nvSpPr>
        <p:spPr>
          <a:xfrm>
            <a:off x="13438564" y="8718304"/>
            <a:ext cx="1588936" cy="1499378"/>
          </a:xfrm>
          <a:custGeom>
            <a:avLst/>
            <a:gdLst/>
            <a:ahLst/>
            <a:cxnLst/>
            <a:rect l="l" t="t" r="r" b="b"/>
            <a:pathLst>
              <a:path w="1588936" h="1499378">
                <a:moveTo>
                  <a:pt x="0" y="0"/>
                </a:moveTo>
                <a:lnTo>
                  <a:pt x="1588937" y="0"/>
                </a:lnTo>
                <a:lnTo>
                  <a:pt x="1588937" y="1499378"/>
                </a:lnTo>
                <a:lnTo>
                  <a:pt x="0" y="14993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TextBox 37"/>
          <p:cNvSpPr txBox="1"/>
          <p:nvPr/>
        </p:nvSpPr>
        <p:spPr>
          <a:xfrm>
            <a:off x="726919" y="287438"/>
            <a:ext cx="20229322" cy="396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53"/>
              </a:lnSpc>
              <a:spcBef>
                <a:spcPct val="0"/>
              </a:spcBef>
            </a:pPr>
            <a:r>
              <a:rPr lang="en-US" sz="2711">
                <a:solidFill>
                  <a:srgbClr val="FFFFFF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Investig</a:t>
            </a:r>
            <a:r>
              <a:rPr lang="en-US" sz="2711" b="1" u="none">
                <a:solidFill>
                  <a:srgbClr val="FFFFFF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ating the Impact of Project Managers’ Leadership Style on Team Performance and Project Outcomes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3654" y="1632789"/>
            <a:ext cx="7860639" cy="5650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34" lvl="1" indent="-183517" algn="l">
              <a:lnSpc>
                <a:spcPts val="2567"/>
              </a:lnSpc>
              <a:buFont typeface="Arial"/>
              <a:buChar char="•"/>
            </a:pPr>
            <a:r>
              <a:rPr lang="en-US" sz="1700" dirty="0">
                <a:solidFill>
                  <a:srgbClr val="FFFFFF"/>
                </a:solidFill>
                <a:highlight>
                  <a:srgbClr val="FFFF00"/>
                </a:highlight>
                <a:latin typeface="Garet"/>
                <a:ea typeface="Garet"/>
                <a:cs typeface="Garet"/>
                <a:sym typeface="Garet"/>
              </a:rPr>
              <a:t>Examine how ethical, situational, and democratic leadership styles influence team performance and project outcomes within Dubai Municipality.</a:t>
            </a:r>
          </a:p>
          <a:p>
            <a:pPr marL="367034" lvl="1" indent="-183517" algn="l">
              <a:lnSpc>
                <a:spcPts val="2567"/>
              </a:lnSpc>
              <a:buFont typeface="Arial"/>
              <a:buChar char="•"/>
            </a:pPr>
            <a:r>
              <a:rPr lang="en-US" sz="1700" dirty="0">
                <a:solidFill>
                  <a:srgbClr val="FFFFFF"/>
                </a:solidFill>
                <a:highlight>
                  <a:srgbClr val="FFFF00"/>
                </a:highlight>
                <a:latin typeface="Garet"/>
                <a:ea typeface="Garet"/>
                <a:cs typeface="Garet"/>
                <a:sym typeface="Garet"/>
              </a:rPr>
              <a:t>Assess the effect of project managers’ leadership styles on budget management and the timely completion of projects in Dubai Municipality.</a:t>
            </a:r>
          </a:p>
          <a:p>
            <a:pPr marL="367034" lvl="1" indent="-183517" algn="l">
              <a:lnSpc>
                <a:spcPts val="2567"/>
              </a:lnSpc>
              <a:buFont typeface="Arial"/>
              <a:buChar char="•"/>
            </a:pPr>
            <a:r>
              <a:rPr lang="en-US" sz="1700" dirty="0">
                <a:solidFill>
                  <a:srgbClr val="FFFFFF"/>
                </a:solidFill>
                <a:highlight>
                  <a:srgbClr val="FFFF00"/>
                </a:highlight>
                <a:latin typeface="Garet"/>
                <a:ea typeface="Garet"/>
                <a:cs typeface="Garet"/>
                <a:sym typeface="Garet"/>
              </a:rPr>
              <a:t>Compare the effectiveness of transformational leadership in fast-track plans and democratic leadership in long-span projects within Dubai Municipality.</a:t>
            </a:r>
          </a:p>
          <a:p>
            <a:pPr marL="367034" lvl="1" indent="-183517" algn="l">
              <a:lnSpc>
                <a:spcPts val="2567"/>
              </a:lnSpc>
              <a:buFont typeface="Arial"/>
              <a:buChar char="•"/>
            </a:pPr>
            <a:r>
              <a:rPr lang="en-US" sz="1700" dirty="0">
                <a:solidFill>
                  <a:srgbClr val="FFFFFF"/>
                </a:solidFill>
                <a:highlight>
                  <a:srgbClr val="FFFF00"/>
                </a:highlight>
                <a:latin typeface="Garet"/>
                <a:ea typeface="Garet"/>
                <a:cs typeface="Garet"/>
                <a:sym typeface="Garet"/>
              </a:rPr>
              <a:t>Explore how contextual factors such as team dynamics, </a:t>
            </a:r>
            <a:r>
              <a:rPr lang="en-US" sz="1700" dirty="0" err="1">
                <a:solidFill>
                  <a:srgbClr val="FFFFFF"/>
                </a:solidFill>
                <a:highlight>
                  <a:srgbClr val="FFFF00"/>
                </a:highlight>
                <a:latin typeface="Garet"/>
                <a:ea typeface="Garet"/>
                <a:cs typeface="Garet"/>
                <a:sym typeface="Garet"/>
              </a:rPr>
              <a:t>organisational</a:t>
            </a:r>
            <a:r>
              <a:rPr lang="en-US" sz="1700" dirty="0">
                <a:solidFill>
                  <a:srgbClr val="FFFFFF"/>
                </a:solidFill>
                <a:highlight>
                  <a:srgbClr val="FFFF00"/>
                </a:highlight>
                <a:latin typeface="Garet"/>
                <a:ea typeface="Garet"/>
                <a:cs typeface="Garet"/>
                <a:sym typeface="Garet"/>
              </a:rPr>
              <a:t> culture, and resource availability shape the relationship between team performance, project outcomes, and leadership style.</a:t>
            </a:r>
          </a:p>
          <a:p>
            <a:pPr marL="367034" lvl="1" indent="-183517" algn="l">
              <a:lnSpc>
                <a:spcPts val="2567"/>
              </a:lnSpc>
              <a:buFont typeface="Arial"/>
              <a:buChar char="•"/>
            </a:pPr>
            <a:r>
              <a:rPr lang="en-US" sz="1700" dirty="0">
                <a:solidFill>
                  <a:srgbClr val="FFFFFF"/>
                </a:solidFill>
                <a:highlight>
                  <a:srgbClr val="FFFF00"/>
                </a:highlight>
                <a:latin typeface="Garet"/>
                <a:ea typeface="Garet"/>
                <a:cs typeface="Garet"/>
                <a:sym typeface="Garet"/>
              </a:rPr>
              <a:t>Recommend strategies to enhance leadership practices within Dubai Municipality, aiming to improve the success of the project and team performance.</a:t>
            </a:r>
          </a:p>
          <a:p>
            <a:pPr algn="l">
              <a:lnSpc>
                <a:spcPts val="2567"/>
              </a:lnSpc>
            </a:pPr>
            <a:endParaRPr lang="en-US" sz="1700" dirty="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52255" y="10948578"/>
            <a:ext cx="7812038" cy="3754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16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Effective leadership is considered as a critical driver for the success of a project, yet its role in achieving sustainable outcomes in UAE public sector projects remains underexplored. Dubai Municipality manages complex, multi-disciplinary projects where leadership agility is essential to navigate innovation, uncertainty, and diverse teams (Government of Dubai, 2022). Leadership behaviours influence not only short-term outputs but also long-term value creation, efficient resource use, and stakeholder satisfaction (Alblooshi et al., 2021; Baig et al., 2021). This research addresses a literature gap by focusing on the lived experiences of project managers and team members in a governmental context, providing insights into leadership’s direct impact on performance and sustainable outcomes.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3466839" y="10861578"/>
            <a:ext cx="7775483" cy="4414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spc="34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The Research Model is given in Figure 1</a:t>
            </a:r>
          </a:p>
          <a:p>
            <a:pPr algn="l">
              <a:lnSpc>
                <a:spcPts val="2380"/>
              </a:lnSpc>
            </a:pPr>
            <a:r>
              <a:rPr lang="en-US" sz="1700" spc="34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The study draws upon established leadership and project management theories:</a:t>
            </a:r>
          </a:p>
          <a:p>
            <a:pPr marL="367034" lvl="1" indent="-183517" algn="l">
              <a:lnSpc>
                <a:spcPts val="2380"/>
              </a:lnSpc>
              <a:buFont typeface="Arial"/>
              <a:buChar char="•"/>
            </a:pPr>
            <a:r>
              <a:rPr lang="en-US" sz="170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Transformational Leadership – inspires innovation and long-term commitment (Madi Odeh et al., 2021).</a:t>
            </a:r>
          </a:p>
          <a:p>
            <a:pPr marL="367034" lvl="1" indent="-183517" algn="l">
              <a:lnSpc>
                <a:spcPts val="2380"/>
              </a:lnSpc>
              <a:buFont typeface="Arial"/>
              <a:buChar char="•"/>
            </a:pPr>
            <a:r>
              <a:rPr lang="en-US" sz="170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Democratic Leadership – fosters participation and shared decision-making (Tang, 2019).</a:t>
            </a:r>
          </a:p>
          <a:p>
            <a:pPr marL="367034" lvl="1" indent="-183517" algn="l">
              <a:lnSpc>
                <a:spcPts val="2380"/>
              </a:lnSpc>
              <a:buFont typeface="Arial"/>
              <a:buChar char="•"/>
            </a:pPr>
            <a:r>
              <a:rPr lang="en-US" sz="170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Ethical Leadership – embeds integrity and stakeholder trust (Bhatti et al., 2021).</a:t>
            </a:r>
          </a:p>
          <a:p>
            <a:pPr marL="367034" lvl="1" indent="-183517" algn="l">
              <a:lnSpc>
                <a:spcPts val="2380"/>
              </a:lnSpc>
              <a:buFont typeface="Arial"/>
              <a:buChar char="•"/>
            </a:pPr>
            <a:r>
              <a:rPr lang="en-US" sz="170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Situational Leadership – adapts style to context and team maturity. These are examined within the sustainability-oriented project leadership perspective, integrating concepts from organisational behaviour and sustainable project management (Bhatti et al., 2021).</a:t>
            </a:r>
          </a:p>
          <a:p>
            <a:pPr algn="l">
              <a:lnSpc>
                <a:spcPts val="2380"/>
              </a:lnSpc>
            </a:pPr>
            <a:endParaRPr lang="en-US" sz="1700" dirty="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55053" y="1112089"/>
            <a:ext cx="7909240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Objectives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5253" y="10381523"/>
            <a:ext cx="6986041" cy="424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9"/>
              </a:lnSpc>
              <a:spcBef>
                <a:spcPct val="0"/>
              </a:spcBef>
            </a:pPr>
            <a:r>
              <a:rPr lang="en-US" sz="2599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Background and Rationale of the Study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378366" y="1944315"/>
            <a:ext cx="6788190" cy="4190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34" lvl="1" indent="-183517" algn="l">
              <a:lnSpc>
                <a:spcPts val="2567"/>
              </a:lnSpc>
              <a:buFont typeface="Arial"/>
              <a:buChar char="•"/>
            </a:pPr>
            <a:r>
              <a:rPr lang="en-US" sz="1700" spc="3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Sampling: Purposive sampling of 20–25 experienced project managers and team leaders (≥3 years relevant experience).</a:t>
            </a:r>
          </a:p>
          <a:p>
            <a:pPr marL="367034" lvl="1" indent="-183517" algn="l">
              <a:lnSpc>
                <a:spcPts val="2567"/>
              </a:lnSpc>
              <a:buFont typeface="Arial"/>
              <a:buChar char="•"/>
            </a:pPr>
            <a:r>
              <a:rPr lang="en-US" sz="1700" spc="3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Data Collection: Semi-structured interviews conducted via Microsoft Teams; recorded, transcribed, and anonymised.</a:t>
            </a:r>
          </a:p>
          <a:p>
            <a:pPr marL="367034" lvl="1" indent="-183517" algn="l">
              <a:lnSpc>
                <a:spcPts val="2567"/>
              </a:lnSpc>
              <a:buFont typeface="Arial"/>
              <a:buChar char="•"/>
            </a:pPr>
            <a:r>
              <a:rPr lang="en-US" sz="1700" spc="3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Data Analysis: Thematic analysis (Braun &amp; Clarke, 2019) to identify patterns in leadership behaviours, contextual influences, and project outcomes.</a:t>
            </a:r>
          </a:p>
          <a:p>
            <a:pPr marL="367034" lvl="1" indent="-183517" algn="l">
              <a:lnSpc>
                <a:spcPts val="2567"/>
              </a:lnSpc>
              <a:buFont typeface="Arial"/>
              <a:buChar char="•"/>
            </a:pPr>
            <a:r>
              <a:rPr lang="en-US" sz="1700" spc="3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Ethics: Informed consent, voluntary participation, GDPR-compliant data storage, pseudo-anonymisation to protect identities.</a:t>
            </a:r>
          </a:p>
          <a:p>
            <a:pPr algn="l">
              <a:lnSpc>
                <a:spcPts val="2567"/>
              </a:lnSpc>
            </a:pPr>
            <a:endParaRPr lang="en-US" sz="1700" spc="34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13865059" y="10509642"/>
            <a:ext cx="6986041" cy="379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Theoretical Framework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611374" y="12365996"/>
            <a:ext cx="3204567" cy="346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spc="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Figure 1: Research Model</a:t>
            </a:r>
          </a:p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spc="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Source: (Author)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3654" y="8243519"/>
            <a:ext cx="7909240" cy="1602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34" lvl="1" indent="-183517" algn="l">
              <a:lnSpc>
                <a:spcPts val="2550"/>
              </a:lnSpc>
              <a:buFont typeface="Arial"/>
              <a:buChar char="•"/>
            </a:pPr>
            <a:r>
              <a:rPr lang="en-US" sz="1700" spc="3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Extends understanding of leadership–performance linkages in a public sector, Middle Eastern context.</a:t>
            </a:r>
          </a:p>
          <a:p>
            <a:pPr marL="367034" lvl="1" indent="-183517" algn="l">
              <a:lnSpc>
                <a:spcPts val="2550"/>
              </a:lnSpc>
              <a:buFont typeface="Arial"/>
              <a:buChar char="•"/>
            </a:pPr>
            <a:r>
              <a:rPr lang="en-US" sz="1700" spc="3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Integrates sustainability principles into leadership evaluation frameworks for project management.</a:t>
            </a:r>
          </a:p>
          <a:p>
            <a:pPr algn="l">
              <a:lnSpc>
                <a:spcPts val="2550"/>
              </a:lnSpc>
            </a:pPr>
            <a:endParaRPr lang="en-US" sz="1700" spc="34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-42339" y="7338009"/>
            <a:ext cx="8281917" cy="715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0"/>
              </a:lnSpc>
              <a:spcBef>
                <a:spcPct val="0"/>
              </a:spcBef>
            </a:pPr>
            <a:r>
              <a:rPr lang="en-US" sz="220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Intended Contribution to Knowledge and Practice To Knowledge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9740364" y="7956708"/>
            <a:ext cx="1454944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spc="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Source: (Author)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263142" y="10149597"/>
            <a:ext cx="6986041" cy="379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Research Aims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330010" y="10560276"/>
            <a:ext cx="5023140" cy="1276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7"/>
              </a:lnSpc>
            </a:pPr>
            <a:r>
              <a:rPr lang="en-US" sz="17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To examine how leadership styles adopted by project managers influence team performance and sustainable project outcomes in Dubai Municipality.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5387181" y="1642314"/>
            <a:ext cx="5842440" cy="5713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8" lvl="1" indent="-107954" algn="l">
              <a:lnSpc>
                <a:spcPts val="1510"/>
              </a:lnSpc>
              <a:buFont typeface="Arial"/>
              <a:buChar char="•"/>
            </a:pPr>
            <a:r>
              <a:rPr lang="en-US" sz="1000" spc="20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Alblooshi</a:t>
            </a:r>
            <a:r>
              <a:rPr lang="en-US" sz="1000" spc="20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, M., </a:t>
            </a:r>
            <a:r>
              <a:rPr lang="en-US" sz="1000" spc="20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Shamsuzzaman</a:t>
            </a:r>
            <a:r>
              <a:rPr lang="en-US" sz="1000" spc="20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, M. and </a:t>
            </a:r>
            <a:r>
              <a:rPr lang="en-US" sz="1000" spc="20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Haridy</a:t>
            </a:r>
            <a:r>
              <a:rPr lang="en-US" sz="1000" spc="20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, S., 2021. The relationship between leadership styles and organisational innovation: A systematic literature review and narrative synthesis. European Journal of Innovation Management, 24(2), pp.338-370.</a:t>
            </a:r>
          </a:p>
          <a:p>
            <a:pPr marL="215908" lvl="1" indent="-107954" algn="l">
              <a:lnSpc>
                <a:spcPts val="1510"/>
              </a:lnSpc>
              <a:buFont typeface="Arial"/>
              <a:buChar char="•"/>
            </a:pPr>
            <a:r>
              <a:rPr lang="en-US" sz="1000" spc="20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Baig, S.A., Iqbal, S., Abrar, M., Baig, I.A., Amjad, F., Zia-</a:t>
            </a:r>
            <a:r>
              <a:rPr lang="en-US" sz="1000" spc="20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ur</a:t>
            </a:r>
            <a:r>
              <a:rPr lang="en-US" sz="1000" spc="20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-Rehman, M. and Awan, M.U., 2021. Impact of leadership styles on employees’ performance with moderating role of positive psychological capital. Total Quality Management &amp; Business Excellence, 32(9-10), pp.1085-1105.</a:t>
            </a:r>
          </a:p>
          <a:p>
            <a:pPr marL="215908" lvl="1" indent="-107954" algn="l">
              <a:lnSpc>
                <a:spcPts val="1510"/>
              </a:lnSpc>
              <a:buFont typeface="Arial"/>
              <a:buChar char="•"/>
            </a:pPr>
            <a:r>
              <a:rPr lang="en-US" sz="1000" spc="20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Bhatti, S.H., Kiyani, S.K., Dust, S.B. and Zakariya, R., 2021. The impact of ethical leadership on project success: the mediating role of trust and knowledge sharing. International Journal of Managing Projects in Business, 14(4), pp.982-998.</a:t>
            </a:r>
          </a:p>
          <a:p>
            <a:pPr marL="215908" lvl="1" indent="-107954" algn="l">
              <a:lnSpc>
                <a:spcPts val="1510"/>
              </a:lnSpc>
              <a:buFont typeface="Arial"/>
              <a:buChar char="•"/>
            </a:pPr>
            <a:r>
              <a:rPr lang="en-US" sz="1000" spc="20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Braun, V. and Clarke, V., 2019. Reflecting on reflexive thematic analysis. Qualitative research in sport, exercise and health, 11(4), pp.589-597.</a:t>
            </a:r>
          </a:p>
          <a:p>
            <a:pPr marL="215908" lvl="1" indent="-107954" algn="l">
              <a:lnSpc>
                <a:spcPts val="1510"/>
              </a:lnSpc>
              <a:buFont typeface="Arial"/>
              <a:buChar char="•"/>
            </a:pPr>
            <a:r>
              <a:rPr lang="en-US" sz="1000" spc="20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Government of Dubai, 2022. Dubai Municipality to showcase most innovative projects at GITEX Global 2022. Available at: </a:t>
            </a:r>
            <a:r>
              <a:rPr lang="en-US" sz="1000" u="sng" spc="20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  <a:hlinkClick r:id="rId10" tooltip="https://www.dm.gov.ae/2022/11/07/dubai-municipality-to-showcase-most-innovative-projects-at-gitex-global-2022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</a:t>
            </a:r>
            <a:r>
              <a:rPr lang="en-US" sz="1000" spc="20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  <a:hlinkClick r:id="rId10" tooltip="https://www.dm.gov.ae/2022/11/07/dubai-municipality-to-showcase-most-innovative-projects-at-gitex-global-2022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 Research Model is given in Figure 1</a:t>
            </a:r>
          </a:p>
          <a:p>
            <a:pPr marL="215908" lvl="1" indent="-107954" algn="l">
              <a:lnSpc>
                <a:spcPts val="1510"/>
              </a:lnSpc>
              <a:buFont typeface="Arial"/>
              <a:buChar char="•"/>
            </a:pPr>
            <a:r>
              <a:rPr lang="en-US" sz="1000" spc="20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  <a:hlinkClick r:id="rId10" tooltip="https://www.dm.gov.ae/2022/11/07/dubai-municipality-to-showcase-most-innovative-projects-at-gitex-global-2022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Sampling: Purposive sampling of 20–25 experienced project managers and team leaders (≥3 years relevant experience).</a:t>
            </a:r>
          </a:p>
          <a:p>
            <a:pPr marL="215908" lvl="1" indent="-107954" algn="l">
              <a:lnSpc>
                <a:spcPts val="1510"/>
              </a:lnSpc>
              <a:buFont typeface="Arial"/>
              <a:buChar char="•"/>
            </a:pPr>
            <a:r>
              <a:rPr lang="en-US" sz="1000" spc="20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  <a:hlinkClick r:id="rId10" tooltip="https://www.dm.gov.ae/2022/11/07/dubai-municipality-to-showcase-most-innovative-projects-at-gitex-global-2022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Collection: Semi-structured interviews conducted via Microsoft Teams; recorded, transcribed, and anonymised.</a:t>
            </a:r>
          </a:p>
          <a:p>
            <a:pPr marL="215908" lvl="1" indent="-107954" algn="l">
              <a:lnSpc>
                <a:spcPts val="1510"/>
              </a:lnSpc>
              <a:buFont typeface="Arial"/>
              <a:buChar char="•"/>
            </a:pPr>
            <a:r>
              <a:rPr lang="en-US" sz="1000" spc="20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  <a:hlinkClick r:id="rId10" tooltip="https://www.dm.gov.ae/2022/11/07/dubai-municipality-to-showcase-most-innovative-projects-at-gitex-global-2022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Analysis: Thematic analysis (Braun &amp; Clarke, 2019) to identify patterns in leadership behaviours, contextual influences, and project outcomes.</a:t>
            </a:r>
          </a:p>
          <a:p>
            <a:pPr marL="215908" lvl="1" indent="-107954" algn="l">
              <a:lnSpc>
                <a:spcPts val="1510"/>
              </a:lnSpc>
              <a:buFont typeface="Arial"/>
              <a:buChar char="•"/>
            </a:pPr>
            <a:r>
              <a:rPr lang="en-US" sz="1000" spc="20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  <a:hlinkClick r:id="rId10" tooltip="https://www.dm.gov.ae/2022/11/07/dubai-municipality-to-showcase-most-innovative-projects-at-gitex-global-2022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Ethics: Informed consent, voluntary participation, GDPR-compliant data storage, pseudo-anonymisation to protect identities.</a:t>
            </a:r>
          </a:p>
          <a:p>
            <a:pPr marL="215908" lvl="1" indent="-107954" algn="l">
              <a:lnSpc>
                <a:spcPts val="1510"/>
              </a:lnSpc>
              <a:buFont typeface="Arial"/>
              <a:buChar char="•"/>
            </a:pPr>
            <a:r>
              <a:rPr lang="en-US" sz="1000" spc="20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Madi Odeh, R.B., Obeidat, B.Y., Jaradat, M.O., </a:t>
            </a:r>
            <a:r>
              <a:rPr lang="en-US" sz="1000" spc="20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Masa'deh</a:t>
            </a:r>
            <a:r>
              <a:rPr lang="en-US" sz="1000" spc="20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, R.E. and </a:t>
            </a:r>
            <a:r>
              <a:rPr lang="en-US" sz="1000" spc="20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Alshurideh</a:t>
            </a:r>
            <a:r>
              <a:rPr lang="en-US" sz="1000" spc="20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, M.T., 2023. The transformational leadership role in achieving organizational resilience through adaptive cultures: the case of Dubai service sector. International Journal of Productivity and Performance Management, 72(2), pp.440-468.</a:t>
            </a:r>
          </a:p>
          <a:p>
            <a:pPr marL="215908" lvl="1" indent="-107954" algn="l">
              <a:lnSpc>
                <a:spcPts val="1510"/>
              </a:lnSpc>
              <a:buFont typeface="Arial"/>
              <a:buChar char="•"/>
            </a:pPr>
            <a:r>
              <a:rPr lang="en-US" sz="1000" spc="20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Tang, K.N., 2019. Leadership styles and organisational effectiveness. Leadership and change management, pp.11-25.</a:t>
            </a:r>
          </a:p>
          <a:p>
            <a:pPr algn="l">
              <a:lnSpc>
                <a:spcPts val="1510"/>
              </a:lnSpc>
            </a:pPr>
            <a:endParaRPr lang="en-US" sz="1000" spc="20" dirty="0">
              <a:solidFill>
                <a:schemeClr val="bg1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8616457" y="1176600"/>
            <a:ext cx="6550098" cy="672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210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Proposed Research Design and Methodology Approach 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5027501" y="1172731"/>
            <a:ext cx="6550098" cy="33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210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917</Words>
  <Application>Microsoft Office PowerPoint</Application>
  <PresentationFormat>Custom</PresentationFormat>
  <Paragraphs>41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Garet Bold</vt:lpstr>
      <vt:lpstr>Calibri</vt:lpstr>
      <vt:lpstr>Garet ExtraBold</vt:lpstr>
      <vt:lpstr>Canva Sans</vt:lpstr>
      <vt:lpstr>Garet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Rehan</dc:creator>
  <cp:lastModifiedBy>Rehan Ahmed</cp:lastModifiedBy>
  <cp:revision>2</cp:revision>
  <dcterms:created xsi:type="dcterms:W3CDTF">2006-08-16T00:00:00Z</dcterms:created>
  <dcterms:modified xsi:type="dcterms:W3CDTF">2026-02-02T07:59:11Z</dcterms:modified>
  <dc:identifier>DAGwItiSSLc</dc:identifier>
</cp:coreProperties>
</file>